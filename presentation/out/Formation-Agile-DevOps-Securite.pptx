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93"/>
  </p:sldMasterIdLst>
  <p:sldIdLst>
    <p:sldId id="255" r:id="rId1"/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Relationship Id="rId9" Type="http://schemas.openxmlformats.org/officeDocument/2006/relationships/slide" Target="slides/slide9.xml"/>
<Relationship Id="rId10" Type="http://schemas.openxmlformats.org/officeDocument/2006/relationships/slide" Target="slides/slide10.xml"/>
<Relationship Id="rId11" Type="http://schemas.openxmlformats.org/officeDocument/2006/relationships/slide" Target="slides/slide11.xml"/>
<Relationship Id="rId12" Type="http://schemas.openxmlformats.org/officeDocument/2006/relationships/slide" Target="slides/slide12.xml"/>
<Relationship Id="rId13" Type="http://schemas.openxmlformats.org/officeDocument/2006/relationships/slide" Target="slides/slide13.xml"/>
<Relationship Id="rId14" Type="http://schemas.openxmlformats.org/officeDocument/2006/relationships/slide" Target="slides/slide14.xml"/>
<Relationship Id="rId15" Type="http://schemas.openxmlformats.org/officeDocument/2006/relationships/slide" Target="slides/slide15.xml"/>
<Relationship Id="rId16" Type="http://schemas.openxmlformats.org/officeDocument/2006/relationships/slide" Target="slides/slide16.xml"/>
<Relationship Id="rId17" Type="http://schemas.openxmlformats.org/officeDocument/2006/relationships/slide" Target="slides/slide17.xml"/>
<Relationship Id="rId18" Type="http://schemas.openxmlformats.org/officeDocument/2006/relationships/slide" Target="slides/slide18.xml"/>
<Relationship Id="rId19" Type="http://schemas.openxmlformats.org/officeDocument/2006/relationships/slide" Target="slides/slide19.xml"/>
<Relationship Id="rId20" Type="http://schemas.openxmlformats.org/officeDocument/2006/relationships/slide" Target="slides/slide20.xml"/>
<Relationship Id="rId21" Type="http://schemas.openxmlformats.org/officeDocument/2006/relationships/slide" Target="slides/slide21.xml"/>
<Relationship Id="rId22" Type="http://schemas.openxmlformats.org/officeDocument/2006/relationships/slide" Target="slides/slide22.xml"/>
<Relationship Id="rId23" Type="http://schemas.openxmlformats.org/officeDocument/2006/relationships/slide" Target="slides/slide23.xml"/>
<Relationship Id="rId24" Type="http://schemas.openxmlformats.org/officeDocument/2006/relationships/slide" Target="slides/slide24.xml"/>
<Relationship Id="rId25" Type="http://schemas.openxmlformats.org/officeDocument/2006/relationships/slide" Target="slides/slide25.xml"/>
<Relationship Id="rId26" Type="http://schemas.openxmlformats.org/officeDocument/2006/relationships/slide" Target="slides/slide26.xml"/>
<Relationship Id="rId27" Type="http://schemas.openxmlformats.org/officeDocument/2006/relationships/slide" Target="slides/slide27.xml"/>
<Relationship Id="rId28" Type="http://schemas.openxmlformats.org/officeDocument/2006/relationships/slide" Target="slides/slide28.xml"/>
<Relationship Id="rId29" Type="http://schemas.openxmlformats.org/officeDocument/2006/relationships/slide" Target="slides/slide29.xml"/>
<Relationship Id="rId30" Type="http://schemas.openxmlformats.org/officeDocument/2006/relationships/slide" Target="slides/slide30.xml"/>
<Relationship Id="rId31" Type="http://schemas.openxmlformats.org/officeDocument/2006/relationships/slide" Target="slides/slide31.xml"/>
<Relationship Id="rId32" Type="http://schemas.openxmlformats.org/officeDocument/2006/relationships/slide" Target="slides/slide32.xml"/>
<Relationship Id="rId33" Type="http://schemas.openxmlformats.org/officeDocument/2006/relationships/slide" Target="slides/slide33.xml"/>
<Relationship Id="rId34" Type="http://schemas.openxmlformats.org/officeDocument/2006/relationships/slide" Target="slides/slide34.xml"/>
<Relationship Id="rId35" Type="http://schemas.openxmlformats.org/officeDocument/2006/relationships/slide" Target="slides/slide35.xml"/>
<Relationship Id="rId36" Type="http://schemas.openxmlformats.org/officeDocument/2006/relationships/slide" Target="slides/slide36.xml"/>
<Relationship Id="rId37" Type="http://schemas.openxmlformats.org/officeDocument/2006/relationships/slide" Target="slides/slide37.xml"/>
<Relationship Id="rId38" Type="http://schemas.openxmlformats.org/officeDocument/2006/relationships/slide" Target="slides/slide38.xml"/>
<Relationship Id="rId39" Type="http://schemas.openxmlformats.org/officeDocument/2006/relationships/slide" Target="slides/slide39.xml"/>
<Relationship Id="rId40" Type="http://schemas.openxmlformats.org/officeDocument/2006/relationships/slide" Target="slides/slide40.xml"/>
<Relationship Id="rId41" Type="http://schemas.openxmlformats.org/officeDocument/2006/relationships/slide" Target="slides/slide41.xml"/>
<Relationship Id="rId42" Type="http://schemas.openxmlformats.org/officeDocument/2006/relationships/slide" Target="slides/slide42.xml"/>
<Relationship Id="rId43" Type="http://schemas.openxmlformats.org/officeDocument/2006/relationships/slide" Target="slides/slide43.xml"/>
<Relationship Id="rId44" Type="http://schemas.openxmlformats.org/officeDocument/2006/relationships/slide" Target="slides/slide44.xml"/>
<Relationship Id="rId45" Type="http://schemas.openxmlformats.org/officeDocument/2006/relationships/slide" Target="slides/slide45.xml"/>
<Relationship Id="rId46" Type="http://schemas.openxmlformats.org/officeDocument/2006/relationships/slide" Target="slides/slide46.xml"/>
<Relationship Id="rId47" Type="http://schemas.openxmlformats.org/officeDocument/2006/relationships/slide" Target="slides/slide47.xml"/>
<Relationship Id="rId48" Type="http://schemas.openxmlformats.org/officeDocument/2006/relationships/slide" Target="slides/slide48.xml"/>
<Relationship Id="rId49" Type="http://schemas.openxmlformats.org/officeDocument/2006/relationships/slide" Target="slides/slide49.xml"/>
<Relationship Id="rId50" Type="http://schemas.openxmlformats.org/officeDocument/2006/relationships/slide" Target="slides/slide50.xml"/>
<Relationship Id="rId51" Type="http://schemas.openxmlformats.org/officeDocument/2006/relationships/slide" Target="slides/slide51.xml"/>
<Relationship Id="rId52" Type="http://schemas.openxmlformats.org/officeDocument/2006/relationships/slide" Target="slides/slide52.xml"/>
<Relationship Id="rId53" Type="http://schemas.openxmlformats.org/officeDocument/2006/relationships/slide" Target="slides/slide53.xml"/>
<Relationship Id="rId54" Type="http://schemas.openxmlformats.org/officeDocument/2006/relationships/slide" Target="slides/slide54.xml"/>
<Relationship Id="rId55" Type="http://schemas.openxmlformats.org/officeDocument/2006/relationships/slide" Target="slides/slide55.xml"/>
<Relationship Id="rId56" Type="http://schemas.openxmlformats.org/officeDocument/2006/relationships/slide" Target="slides/slide56.xml"/>
<Relationship Id="rId57" Type="http://schemas.openxmlformats.org/officeDocument/2006/relationships/slide" Target="slides/slide57.xml"/>
<Relationship Id="rId58" Type="http://schemas.openxmlformats.org/officeDocument/2006/relationships/slide" Target="slides/slide58.xml"/>
<Relationship Id="rId59" Type="http://schemas.openxmlformats.org/officeDocument/2006/relationships/slide" Target="slides/slide59.xml"/>
<Relationship Id="rId60" Type="http://schemas.openxmlformats.org/officeDocument/2006/relationships/slide" Target="slides/slide60.xml"/>
<Relationship Id="rId61" Type="http://schemas.openxmlformats.org/officeDocument/2006/relationships/slide" Target="slides/slide61.xml"/>
<Relationship Id="rId62" Type="http://schemas.openxmlformats.org/officeDocument/2006/relationships/slide" Target="slides/slide62.xml"/>
<Relationship Id="rId63" Type="http://schemas.openxmlformats.org/officeDocument/2006/relationships/slide" Target="slides/slide63.xml"/>
<Relationship Id="rId64" Type="http://schemas.openxmlformats.org/officeDocument/2006/relationships/slide" Target="slides/slide64.xml"/>
<Relationship Id="rId65" Type="http://schemas.openxmlformats.org/officeDocument/2006/relationships/slide" Target="slides/slide65.xml"/>
<Relationship Id="rId66" Type="http://schemas.openxmlformats.org/officeDocument/2006/relationships/slide" Target="slides/slide66.xml"/>
<Relationship Id="rId67" Type="http://schemas.openxmlformats.org/officeDocument/2006/relationships/slide" Target="slides/slide67.xml"/>
<Relationship Id="rId68" Type="http://schemas.openxmlformats.org/officeDocument/2006/relationships/slide" Target="slides/slide68.xml"/>
<Relationship Id="rId69" Type="http://schemas.openxmlformats.org/officeDocument/2006/relationships/slide" Target="slides/slide69.xml"/>
<Relationship Id="rId70" Type="http://schemas.openxmlformats.org/officeDocument/2006/relationships/slide" Target="slides/slide70.xml"/>
<Relationship Id="rId71" Type="http://schemas.openxmlformats.org/officeDocument/2006/relationships/slide" Target="slides/slide71.xml"/>
<Relationship Id="rId72" Type="http://schemas.openxmlformats.org/officeDocument/2006/relationships/slide" Target="slides/slide72.xml"/>
<Relationship Id="rId73" Type="http://schemas.openxmlformats.org/officeDocument/2006/relationships/slide" Target="slides/slide73.xml"/>
<Relationship Id="rId74" Type="http://schemas.openxmlformats.org/officeDocument/2006/relationships/slide" Target="slides/slide74.xml"/>
<Relationship Id="rId75" Type="http://schemas.openxmlformats.org/officeDocument/2006/relationships/slide" Target="slides/slide75.xml"/>
<Relationship Id="rId76" Type="http://schemas.openxmlformats.org/officeDocument/2006/relationships/slide" Target="slides/slide76.xml"/>
<Relationship Id="rId77" Type="http://schemas.openxmlformats.org/officeDocument/2006/relationships/slide" Target="slides/slide77.xml"/>
<Relationship Id="rId78" Type="http://schemas.openxmlformats.org/officeDocument/2006/relationships/slide" Target="slides/slide78.xml"/>
<Relationship Id="rId79" Type="http://schemas.openxmlformats.org/officeDocument/2006/relationships/slide" Target="slides/slide79.xml"/>
<Relationship Id="rId80" Type="http://schemas.openxmlformats.org/officeDocument/2006/relationships/slide" Target="slides/slide80.xml"/>
<Relationship Id="rId81" Type="http://schemas.openxmlformats.org/officeDocument/2006/relationships/slide" Target="slides/slide81.xml"/>
<Relationship Id="rId82" Type="http://schemas.openxmlformats.org/officeDocument/2006/relationships/slide" Target="slides/slide82.xml"/>
<Relationship Id="rId83" Type="http://schemas.openxmlformats.org/officeDocument/2006/relationships/slide" Target="slides/slide83.xml"/>
<Relationship Id="rId84" Type="http://schemas.openxmlformats.org/officeDocument/2006/relationships/slide" Target="slides/slide84.xml"/>
<Relationship Id="rId85" Type="http://schemas.openxmlformats.org/officeDocument/2006/relationships/slide" Target="slides/slide85.xml"/>
<Relationship Id="rId86" Type="http://schemas.openxmlformats.org/officeDocument/2006/relationships/slide" Target="slides/slide86.xml"/>
<Relationship Id="rId87" Type="http://schemas.openxmlformats.org/officeDocument/2006/relationships/slide" Target="slides/slide87.xml"/>
<Relationship Id="rId88" Type="http://schemas.openxmlformats.org/officeDocument/2006/relationships/slide" Target="slides/slide88.xml"/>
<Relationship Id="rId89" Type="http://schemas.openxmlformats.org/officeDocument/2006/relationships/slide" Target="slides/slide89.xml"/>
<Relationship Id="rId90" Type="http://schemas.openxmlformats.org/officeDocument/2006/relationships/slide" Target="slides/slide90.xml"/>
<Relationship Id="rId91" Type="http://schemas.openxmlformats.org/officeDocument/2006/relationships/slide" Target="slides/slide91.xml"/>
<Relationship Id="rId92" Type="http://schemas.openxmlformats.org/officeDocument/2006/relationships/slide" Target="slides/slide92.xml"/>
<Relationship Id="rId93" Type="http://schemas.openxmlformats.org/officeDocument/2006/relationships/slideMaster" Target="slideMasters/slideMaster1.xml"/>
<Relationship Id="rId94" Type="http://schemas.openxmlformats.org/officeDocument/2006/relationships/theme" Target="theme/theme1.xml"/>
<Relationship Id="rId95" Type="http://schemas.openxmlformats.org/officeDocument/2006/relationships/presProps" Target="presProps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e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2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3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4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6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6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6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6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6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6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6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6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6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6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7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7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7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7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7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7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7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7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7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7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8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8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8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8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8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8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8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8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8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8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9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9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9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eau"/>
          <p:cNvSpPr/>
          <p:nvPr/>
        </p:nvSpPr>
        <p:spPr>
          <a:xfrm>
            <a:off x="0" y="0"/>
            <a:ext cx="12192000" cy="16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rand"/>
          <p:cNvSpPr txBox="1"/>
          <p:nvPr/>
        </p:nvSpPr>
        <p:spPr>
          <a:xfrm>
            <a:off x="700000" y="1500000"/>
            <a:ext cx="10800000" cy="6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1600" b="1">
                <a:solidFill>
                  <a:srgbClr val="F5B301"/>
                </a:solidFill>
              </a:rPr>
              <a:t>SOLID WALL CONSULTING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700000" y="2400000"/>
            <a:ext cx="10800000" cy="18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4400" b="1">
                <a:solidFill>
                  <a:srgbClr val="0B3D62"/>
                </a:solidFill>
              </a:rPr>
              <a:t>Agilite, DevOps &amp; Securite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700000" y="4100000"/>
            <a:ext cx="10800000" cy="8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200">
                <a:solidFill>
                  <a:srgbClr val="14507A"/>
                </a:solidFill>
              </a:rPr>
              <a:t>Scrum &amp; Kanban - CI/CD, Docker, Kubernetes - Spring Security</a:t>
            </a:r>
          </a:p>
        </p:txBody>
      </p:sp>
      <p:sp>
        <p:nvSpPr>
          <p:cNvPr id="6" name="author"/>
          <p:cNvSpPr txBox="1"/>
          <p:nvPr/>
        </p:nvSpPr>
        <p:spPr>
          <a:xfrm>
            <a:off x="700000" y="5600000"/>
            <a:ext cx="10800000" cy="6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1500">
                <a:solidFill>
                  <a:srgbClr val="5B6770"/>
                </a:solidFill>
              </a:rPr>
              <a:t>Formateur : Haithem Mihoubi</a:t>
            </a:r>
          </a:p>
        </p:txBody>
      </p:sp>
      <p:sp>
        <p:nvSpPr>
          <p:cNvPr id="7" name="bandeau bas"/>
          <p:cNvSpPr/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Programme de la formation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Module 1 - Gestion de projet Agile : Scrum &amp; Kanban (3 jours)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Module 2 - Culture &amp; outils DevOps : CI/CD, Docker, Kubernetes (4 jours)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Module 3 - Spring Security : JWT, OAuth2, Keycloak (5 jours)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Fil rouge : application QuickBite (commande de repas)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Pedagogie : theorie courte -&gt; demonstration -&gt; atelier -&gt; corrige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3D62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arre"/>
          <p:cNvSpPr/>
          <p:nvPr/>
        </p:nvSpPr>
        <p:spPr>
          <a:xfrm>
            <a:off x="700000" y="3050000"/>
            <a:ext cx="2600000" cy="9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700000" y="2550000"/>
            <a:ext cx="10800000" cy="12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4000" b="1">
                <a:solidFill>
                  <a:srgbClr val="FFFFFF"/>
                </a:solidFill>
              </a:rPr>
              <a:t>Module 1 - Agilite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700000" y="3300000"/>
            <a:ext cx="108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000">
                <a:solidFill>
                  <a:srgbClr val="F5B301"/>
                </a:solidFill>
              </a:rPr>
              <a:t>Scrum &amp; Kanban, roles PO / Scrum Master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3D62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arre"/>
          <p:cNvSpPr/>
          <p:nvPr/>
        </p:nvSpPr>
        <p:spPr>
          <a:xfrm>
            <a:off x="700000" y="3050000"/>
            <a:ext cx="2600000" cy="9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700000" y="2550000"/>
            <a:ext cx="10800000" cy="12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4000" b="1">
                <a:solidFill>
                  <a:srgbClr val="FFFFFF"/>
                </a:solidFill>
              </a:rPr>
              <a:t>Chapitre 7 - Introduction a Scrum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700000" y="3300000"/>
            <a:ext cx="108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000">
                <a:solidFill>
                  <a:srgbClr val="F5B301"/>
                </a:solidFill>
              </a:rPr>
              <a:t>Scrum.org  -  International Scrum Institute  -  Scrum Alliance</a:t>
            </a:r>
          </a:p>
        </p:txBody>
      </p:sp>
      <p:sp>
        <p:nvSpPr>
          <p:cNvPr id="6" name="note"/>
          <p:cNvSpPr txBox="1"/>
          <p:nvPr/>
        </p:nvSpPr>
        <p:spPr>
          <a:xfrm>
            <a:off x="700000" y="6158000"/>
            <a:ext cx="10800000" cy="5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1300">
                <a:solidFill>
                  <a:srgbClr val="AEC2D6"/>
                </a:solidFill>
              </a:rPr>
              <a:t>Improving the Profession of Software Development   |   18/12/2015   -   Copyright ISETR 2014 ©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Plan general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I.   Generalites sur Scrum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II.  La theorie de Scrum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III. Les roles Scrum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IV.  Le fonctionnement de Scrum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V.   Les evenements Scrum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VI.  Les artefacts Scrum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Conclusion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3D62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arre"/>
          <p:cNvSpPr/>
          <p:nvPr/>
        </p:nvSpPr>
        <p:spPr>
          <a:xfrm>
            <a:off x="700000" y="3050000"/>
            <a:ext cx="2600000" cy="9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700000" y="2550000"/>
            <a:ext cx="10800000" cy="12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4000" b="1">
                <a:solidFill>
                  <a:srgbClr val="FFFFFF"/>
                </a:solidFill>
              </a:rPr>
              <a:t>I. Generalites sur Scrum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700000" y="3300000"/>
            <a:ext cx="108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000">
                <a:solidFill>
                  <a:srgbClr val="F5B301"/>
                </a:solidFill>
              </a:rPr>
              <a:t>Definitions, historique, theorie et composition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I. Generalites - Definitions fondamentales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Scrum EST :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Un cadre de travail (framework) pour repondre a des problemes complexes et changeants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tout en livrant de maniere productive et creative des produits de la plus grande valeur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Scrum N'EST PAS :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Un processus ni une methode de developpement de produit logiciel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I. Generalites - Historique, theorie &amp; composition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Historique : le mot Scrum vient du Rugby (la melee)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Utilise dans le developpement logiciel depuis le debut des annees 90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Theorie : Transparence - Inspection - Adaptation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Composition du cadre Scrum :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Equipes et roles  |  Evenements  |  Artefacts  |  Regles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I. Generalites - Metaphore de la melee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565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Definition sportive : en Rugby, une melee est une reprise du jeu ordonnee apres une infraction mineure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Symbolise la cohesion d'equipe necessaire pour affronter collectivement les obstacles de production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L'effort est commun, oriente vers un meme objectif</a:t>
            </a:r>
          </a:p>
        </p:txBody>
      </p:sp>
      <p:pic>
        <p:nvPicPr>
          <p:cNvPr id="6" name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0000" y="2340000"/>
            <a:ext cx="5100000" cy="30600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3D62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arre"/>
          <p:cNvSpPr/>
          <p:nvPr/>
        </p:nvSpPr>
        <p:spPr>
          <a:xfrm>
            <a:off x="700000" y="3050000"/>
            <a:ext cx="2600000" cy="9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700000" y="2550000"/>
            <a:ext cx="10800000" cy="12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4000" b="1">
                <a:solidFill>
                  <a:srgbClr val="FFFFFF"/>
                </a:solidFill>
              </a:rPr>
              <a:t>II. La theorie de Scrum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700000" y="3300000"/>
            <a:ext cx="108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000">
                <a:solidFill>
                  <a:srgbClr val="F5B301"/>
                </a:solidFill>
              </a:rPr>
              <a:t>L'empirisme et ses trois piliers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II. La theorie - L'empirisme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565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Principe de base : Scrum se base sur l'empirisme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Processus empirique : Transparence, Inspection et Adaptation interconnectees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Empirisme (Larousse) : la connaissance des choses derive de l'experience</a:t>
            </a:r>
          </a:p>
        </p:txBody>
      </p:sp>
      <p:pic>
        <p:nvPicPr>
          <p:cNvPr id="6" name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0000" y="2212500"/>
            <a:ext cx="5100000" cy="33150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II. La theorie - Les 3 piliers operationnels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Transparence : les aspects importants du processus sont visibles des responsables des retombees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Inspection : surveiller en permanence l'avancement vers l'objectif de l'iteration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Sans que la frequence des inspections gene le travail en cours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Adaptation : si un aspect derive hors des limites acceptables, ajuster des que possible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Objectif : minimiser le risque de derives supplementaires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3D62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arre"/>
          <p:cNvSpPr/>
          <p:nvPr/>
        </p:nvSpPr>
        <p:spPr>
          <a:xfrm>
            <a:off x="700000" y="3050000"/>
            <a:ext cx="2600000" cy="9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700000" y="2550000"/>
            <a:ext cx="10800000" cy="12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4000" b="1">
                <a:solidFill>
                  <a:srgbClr val="FFFFFF"/>
                </a:solidFill>
              </a:rPr>
              <a:t>III. Les roles Scrum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700000" y="3300000"/>
            <a:ext cx="108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000">
                <a:solidFill>
                  <a:srgbClr val="F5B301"/>
                </a:solidFill>
              </a:rPr>
              <a:t>Product Owner - Scrum Master - Equipe de developpement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III. Les roles - Vue d'ensemble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L'Equipe Scrum (Scrum Team) est constituee de trois entites indissociables :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Product Owner (PO)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Development Team (Equipe de developpement)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Scrum Master (SM)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Aucun sous-groupe, une seule equipe orientee vers un meme objectif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III.1 Le Product Owner (PO)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Responsabilite : maximiser la valeur du produit et du travail de l'Equipe de Developpement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Positionnement : represente le client et defend le produit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Ecosysteme relationnel : interface constante entre :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l'Utilisateur, le Client, le Consultant et les autres parties prenantes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III.1 Le Product Owner - Taches cles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Definir les besoins du produit et rediger les specifications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Ordonner les besoins pour mieux realiser les missions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Optimiser la valeur du travail effectue par l'Equipe de Developpement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S'assurer que le besoin est visible, transparent et clair pour tous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Montrer ce sur quoi l'equipe travaillera prochainement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III.2 Le Scrum Master (SM)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Definition : la personne chargee de lever tout obstacle freinant le travail de l'equipe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C'est un facilitateur, au service de l'equipe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Image : le chef d'orchestre, ou le gardien qui protege l'equipe des perturbations externes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III.2 Le Scrum Master - Taches cles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S'assurer de la bonne application de la methode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Degager la voie devant l'Equipe de Developpement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Optimiser la valeur du travail effectue par l'Equipe de Developpement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III.3 L'Equipe de Developpement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Definition : les personnes chargees de la realisation du sprint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et d'un produit utilisable en fin de sprint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Composition : developpeurs, architectes, testeurs fonctionnels, etc.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Auto-organisee et pluridisciplinaire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3D62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arre"/>
          <p:cNvSpPr/>
          <p:nvPr/>
        </p:nvSpPr>
        <p:spPr>
          <a:xfrm>
            <a:off x="700000" y="3050000"/>
            <a:ext cx="2600000" cy="9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700000" y="2550000"/>
            <a:ext cx="10800000" cy="12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4000" b="1">
                <a:solidFill>
                  <a:srgbClr val="FFFFFF"/>
                </a:solidFill>
              </a:rPr>
              <a:t>IV. Le fonctionnement de Scrum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700000" y="3300000"/>
            <a:ext cx="108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000">
                <a:solidFill>
                  <a:srgbClr val="F5B301"/>
                </a:solidFill>
              </a:rPr>
              <a:t>Sprints, releases, regles et automatisation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IV. Fonctionnement - Le concept de Sprint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Scrum decoupe le projet en iterations appelees sprints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Cadence : un sprint dure entre 1 semaine et 1 mois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Melee quotidienne (stand-up) : chaque jour les collaborateurs font le point sur :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Ce qui a ete fait  |  ce qui reste a faire  |  les difficultes rencontrees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Les fonctionnalites (user stories) sont triees dans le Product Backlog puis le Sprint Backlog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IV. Fonctionnement - Cartographie du flux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565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Entrees : executives, equipe, parties prenantes, clients, utilisateurs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Le PO priorise la liste des besoins -&gt; Product Backlog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Sprint Planning : l'equipe selectionne le haut de la liste -&gt; Sprint Backlog (Task Breakout)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Sprint (1-4 sem) encadre par le SM : Burndown chart + Daily Scrum (toutes les 24 h)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La date de fin et le livrable ne changent pas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Sprint Review -&gt; produit fini (Finished Work) -&gt; Sprint Retrospective</a:t>
            </a:r>
          </a:p>
        </p:txBody>
      </p:sp>
      <p:pic>
        <p:nvPicPr>
          <p:cNvPr id="6" name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0000" y="2595612"/>
            <a:ext cx="5100000" cy="254877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IV. Fonctionnement - Sprint &amp; livrable (Release)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Chaque sprint cree une version potentiellement livrable du produit (release)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Duree fixe ; chaque fin de sprint enchaine sur un nouveau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Le contenu ne doit pas changer durant l'iteration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Les fonctionnalites reportees retournent dans le Product Backlog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Un release est heterogene : modules, configuration, doc, manuel, tests, user stories...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IV. Fonctionnement - Le cycle iteratif des versions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565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Enchainement continu des increments produit :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Release 0  -&gt;  Release 1  -&gt;  ...  -&gt;  Release N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Chaque release ajoute de la valeur livrable a la precedente</a:t>
            </a:r>
          </a:p>
        </p:txBody>
      </p:sp>
      <p:pic>
        <p:nvPicPr>
          <p:cNvPr id="6" name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0000" y="2977500"/>
            <a:ext cx="5100000" cy="17850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IV. Fonctionnement - Le cas du Release 0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Configurer l'environnement de developpement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Choisir le socle technique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Implementer les taches a automatiser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Initialiser le developpement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Mettre en place une infrastructure initiale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IV. Fonctionnement - Pendant le Sprint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L'objectif du sprint est fixe : les changements qui le remettent en cause sont interdits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Les objectifs de qualite sont maintenus : jamais revus a la baisse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Le perimetre peut etre clarifie et renegocie entre le PO et l'equipe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au fur et a mesure de ce que l'equipe apprend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IV. Fonctionnement - Duree des sprints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Regle generale : duree fixe pour toutes les iterations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Donnee cle pour la planification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Best practice : l'equipe reste fidele aux delais (vacances, absences...)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Gestion de crise : ne jamais etendre la duree ; en cas extreme, reduire le perimetre rendu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IV. Fonctionnement - Short Sprint vs Long Sprint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Short Sprint (court) :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Retour rapide des clients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Risque de death sprints -&gt; mauvaise qualite logicielle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Long Sprint (long) :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Difficile a planifier ; risque de changement de besoins chez le PO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Tendance a deriver vers un modele classique en cascade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IV. Fonctionnement - Automatisation dans les sprints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565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Automatiser les taches repetitives et consommatrices de ressources est essentiel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Chaine d'automatisation continue (pipeline) :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Integration  -&gt;  Build  -&gt;  Packaging  -&gt;  Deployment</a:t>
            </a:r>
          </a:p>
        </p:txBody>
      </p:sp>
      <p:pic>
        <p:nvPicPr>
          <p:cNvPr id="6" name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0000" y="3062500"/>
            <a:ext cx="5100000" cy="16150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3D62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arre"/>
          <p:cNvSpPr/>
          <p:nvPr/>
        </p:nvSpPr>
        <p:spPr>
          <a:xfrm>
            <a:off x="700000" y="3050000"/>
            <a:ext cx="2600000" cy="9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700000" y="2550000"/>
            <a:ext cx="10800000" cy="12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4000" b="1">
                <a:solidFill>
                  <a:srgbClr val="FFFFFF"/>
                </a:solidFill>
              </a:rPr>
              <a:t>V. Les evenements Scrum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700000" y="3300000"/>
            <a:ext cx="108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000">
                <a:solidFill>
                  <a:srgbClr val="F5B301"/>
                </a:solidFill>
              </a:rPr>
              <a:t>Sprint Planning - Daily Scrum - Sprint Review - Retrospective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V. Les evenements - Les 4 ceremonies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Les etapes cles du rythme Scrum :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Sprint Planning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Daily Scrum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Sprint Review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Sprint Retrospective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V. Les evenements - Le Sprint Planning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Reunion determinante pour la reussite du sprint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Inputs : les items prioritaires du Product Backlog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Identifie les items a inclure dans le sprint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Permet de definir l'objectif global du sprint (Sprint Goal)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V. Les evenements - Structure d'un Sprint Planning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Introduction et rappel des principes : 5 mn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Definition du but du sprint : 10 mn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Description des stories candidates : 30 mn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Estimation des stories et decoupage si necessaire : 60 mn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Decoupage technique en taches unitaires : 30 mn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Definition des criteres d'acceptation precis : 40 mn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Conclusion de la seance : 5 mn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V. Les evenements - Le Daily Scrum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Aussi appele : daily stand-up, stand-up meeting, daily meeting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Format : 15 minutes maximum pour synchroniser l'equipe et planifier les 24 h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Contenu : ce qui a ete fait, ce qui reste a faire, les obstacles rencontres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Gouvernance : le SM s'assure qu'il a lieu ; l'equipe en est responsable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V. Les evenements - Les apports du Daily Scrum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Ameliore la communication et elimine les reunions superflues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Revele les obstacles pour les supprimer rapidement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Encourage la prise de decision rapide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Ameliore le niveau de connaissance globale de l'equipe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Point cle d'inspection et d'adaptation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V. Les evenements - Le Sprint Review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Reunion tenue a la fin de chaque sprint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Objectif : inspecter le sprint ecoule et adapter le Product Backlog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Duree : au maximum 4 heures pour un sprint d'1 mois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Participants : toute l'equipe Scrum + les parties prenantes (stakeholders)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V. Les evenements - Deroulement du Sprint Review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Revue des pratiques du sprint et propositions d'amelioration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L'equipe discute de ce qui a bien marche, des problemes et de leur resolution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Le groupe convient de la suite -&gt; contribue aux planifications suivantes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Revue des delais, du budget, des fonctionnalites et du marche pour la prochaine livraison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V. Les evenements - Le Sprint Retrospective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Occasion pour l'equipe de s'inspecter et de creer un plan d'amelioration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applique des le sprint suivant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Trois objectifs majeurs :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Inspecter le dernier sprint : personnes, relations, processus, outils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Identifier et ordonner ce qui a bien marche et les ameliorations possibles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Creer un plan pour ameliorer concretement le travail de l'equipe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3D62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arre"/>
          <p:cNvSpPr/>
          <p:nvPr/>
        </p:nvSpPr>
        <p:spPr>
          <a:xfrm>
            <a:off x="700000" y="3050000"/>
            <a:ext cx="2600000" cy="9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700000" y="2550000"/>
            <a:ext cx="10800000" cy="12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4000" b="1">
                <a:solidFill>
                  <a:srgbClr val="FFFFFF"/>
                </a:solidFill>
              </a:rPr>
              <a:t>VI. Les artefacts Scrum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700000" y="3300000"/>
            <a:ext cx="108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000">
                <a:solidFill>
                  <a:srgbClr val="F5B301"/>
                </a:solidFill>
              </a:rPr>
              <a:t>Product Backlog - Sprint Backlog - Burn-down chart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VI. Les artefacts - Les documents de suivi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Les trois artefacts indispensables de Scrum :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Product Backlog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Sprint Backlog (parfois appele release backlog)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Burn-down chart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VI. Les artefacts - Le Product Backlog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Une liste unique, triee par ordre de priorite absolue, de taches et de besoins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Les besoins sont exprimes sous forme de user stories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Bugs, ameliorations et changements techniques y sont traites de maniere unifiee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pas uniquement les besoins fonctionnels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VI. Les artefacts - Affinage du Backlog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Transition temporelle du besoin vers le livrable :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Product Backlog (vision macro)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-&gt; selection pour 30 jours maximum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-&gt; affinement dans le Release / Sprint Backlog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-&gt; decoupage a la journee (24 h)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-&gt; version exploitable (working increment)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VI. Les artefacts - Le Sprint Backlog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Chaque sprint cree une version potentiellement livrable du produit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Duree fixe ; chaque fin de sprint enchaine sur un nouveau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Rassemble les elements selectionnes du Product Backlog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associes au plan technique detaille de realisation etabli par l'equipe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VI. Les artefacts - Le Burn-down chart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565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Exemple : Project XYZ - Iteration 1 Burn Down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Axe Y : Sum of Task Estimates (days) - de 0 a 30 jours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Axe X : Iteration Timeline (days) - de 0 a 20 jours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Ligne bleue : Ideal Tasks Remaining (decroissance ideale)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Ligne rouge : Actual Tasks Remaining (reste a faire reel)</a:t>
            </a:r>
          </a:p>
        </p:txBody>
      </p:sp>
      <p:pic>
        <p:nvPicPr>
          <p:cNvPr id="6" name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0000" y="2200909"/>
            <a:ext cx="5100000" cy="3338181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VI. Les artefacts - Utilite du Burn-down chart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Mesurer precisement l'avancement du projet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Quantite de travail deja realise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Quantite de travail restant a faire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Regle d'efficacite : privilegier de petites taches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pour que l'avancement de l'equipe soit fidelement mesurable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VII. Conclusion generale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Scrum : approche moderne centree sur la livraison optimale et iterative de logiciels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Roles stricts, evenements cadences, etat d'esprit collaboratif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Ne fige pas les outils ni les techniques d'ingenierie : dicte une maniere agile de faire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Favorise l'automatisation systematique des taches repetitives (productivite &amp; stabilite)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References bibliographiques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The Scrum Guide - Ken Schwaber &amp; Jeff Sutherland (Scrum.org)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Scrum Alliance - scrumalliance.org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International Scrum Institute - scrum-institute.org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K. Schwaber, M. Beedle - Agile Software Development with Scrum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Pourquoi l'Agilite ?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Avant : cycle en cascade - tout specifier, puis livrer 12-18 mois plus tard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Consequences : effet tunnel, besoins perimes, fonctions inutilisees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Le cout du changement explose avec le temps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Reponse : livrer par petits increments et apprendre vite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Idee cle : raccourcir la boucle entre une idee et sa validation utilisateur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Le Manifeste Agile (2001) - 4 valeurs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Les individus et leurs interactions  plutot que  les processus et outils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Un logiciel qui fonctionne  plutot que  une documentation exhaustive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La collaboration avec le client  plutot que  la negociation contractuelle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L'adaptation au changement  plutot que  le suivi d'un plan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Les elements de droite gardent de la valeur - on deplace le curseur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Les 12 principes (regroupes)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Livrer de la valeur tot et souvent, accueillir le changement meme tardif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Collaboration quotidienne metier &lt;-&gt; developpeurs, dialogue en face a face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Mesure d'avancement = logiciel qui marche, a un rythme soutenable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Excellence technique, simplicite, equipes auto-organisees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S'ameliorer regulierement : retrospective a intervalles reguliers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Predictif vs Adaptatif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Predictif (cycle en V) : besoin stable, valeur a la fin, changement couteux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Adaptatif (Agile) : besoin evolutif, valeur a chaque iteration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Iteratif ≠ incremental - l'Agile combine les deux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Metaphore : skateboard -&gt; trottinette -&gt; velo -&gt; voiture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Concepts cles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MVP : plus petite version livrable qui permet d'apprendre aupres d'utilisateurs reels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Valeur metier : on priorise par la valeur, pas par la facilite technique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Boucle de feedback : construire -&gt; mesurer -&gt; apprendre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Definition of Ready (DoR) : story prete a etre developpee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Definition of Done (DoD) : reellement termine - checklist non negociable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Scrum - les fondations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Cadre leger fonde sur l'empirisme : transparence, inspection, adaptation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5 valeurs Scrum : Engagement - Focus - Ouverture - Respect - Courage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Engagement : l'equipe s'engage sur l'objectif du sprint, pas une simple liste de taches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Focus : rien ne prime sur l'objectif du sprint pendant sa duree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Sprint = iteration de duree fixe (1 a 4 semaines), sans interruption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Scrum - les 3 roles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Product Owner : le QUOI et le POURQUOI - possede et ordonne le Product Backlog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Outils PO : story mapping, MoSCoW, WSJF, roadmap produit, criteres d'acceptation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Scrum Master : leader serviteur - facilite, leve les obstacles, protege l'equipe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≠ chef de projet : influence et coaching, pas autorite hierarchique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Developpeurs : auto-organises, pluridisciplinaires - decident du COMMENT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Story Mapping - outil cle du PO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Visualise le parcours utilisateur de gauche a droite (activites -&gt; taches utilisateur)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Decoupe verticalement les priorites en tranches horizontales (releases / sprints)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Permet de definir le MVP : la premiere tranche bout-en-bout fonctionnelle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Revele les dependances et les risques avant de planifier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Format : post-it sur un mur ou outil dedie - toujours realise en equipe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Scrum - artefacts &amp; evenements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Artefacts : Product Backlog (Product Goal) | Sprint Backlog (Sprint Goal) | Increment (DoD)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Sprint Planning (≤ 4 h) : Pourquoi ce sprint a de la valeur ? Quoi ? Comment ?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Daily Scrum (15 min) : synchronisation entre developpeurs, pas un reporting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Sprint Review (≤ 2 h) : inspecter le PRODUIT avec les parties prenantes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Sprint Retrospective (≤ 1 h 30) : inspecter le PROCESSUS de travail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Ecrire &amp; estimer le travail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Epic -&gt; User Story -&gt; Task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Story : En tant que [role], je veux [action] afin de [benefice]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INVEST : Independent, Negotiable, Valuable, Estimable, Small, Testable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Estimation en points (Fibonacci) + Planning Poker, pas en heures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Priorisation MoSCoW : Must / Should / Could / Won't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Kanban - principes &amp; pratiques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Visualiser le travail sur un tableau (colonnes = etapes du flux)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Limiter le WIP (Work In Progress) : 'stop starting, start finishing'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Gerer le flux : rendre les regles explicites, boucles de feedback cadencees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Metriques : lead time (vu client), cycle time (temps d'execution), throughput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Loi de Little : Lead time ≈ WIP / Throughput - reduire le WIP reduit les delais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Kanban avance - CFD &amp; classes de service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Diagramme de flux cumule (CFD) : courbes empilees par etat dans le temps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Bande qui s'elargit = accumulation / goulot d'etranglement visible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Bandes paralleles et fines = flux sain et previsible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Classes de service : Standard | Urgent (expedite, WIP=1) | Date fixe | Intangible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Optimiser le TOUT, pas chaque poste isolement (theorie des contraintes)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Scrum vs Kanban vs ScrumBan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Scrum : iterations fixes, roles imposes, Sprint Goal - developpement produit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Kanban : flux continu, pas de roles imposes - support, ops, flux imprevisible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ScrumBan : hybride - equipe Scrum noyee d'urgences, ou equipe en transition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Pas de meilleur cadre : on choisit selon la nature du travail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Outils de gestion Agile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Jira : puissant, reporting avance, Agile a l'echelle - grandes equipes produit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Trello : simplicite, prise en main immediate - petites equipes, Kanban leger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ClickUp : polyvalent (docs, objectifs, vues multiples) - equipes multi-usages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GitHub Projects : couple au code et aux issues, automatisation - equipes dev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Asana : gestion de taches et de flux, echeances - coordination transverse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Module 1 - Ateliers pratiques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Atelier 1 (Jour 1) : Diagnostic d'un projet cascade -&gt; proposition de transition Agile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Atelier 2 (Jour 2) : Creer un Product Backlog QuickBite + Sprint Planning (Planning Poker)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Atelier 3 (Jour 3) : Mettre en place un tableau Kanban + simuler 5 jours de flux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Mini-atelier outil : creer le board QuickBite sur Trello ou GitHub Projects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Chaque atelier se clot par une restitution et un corrige commente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3D62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arre"/>
          <p:cNvSpPr/>
          <p:nvPr/>
        </p:nvSpPr>
        <p:spPr>
          <a:xfrm>
            <a:off x="700000" y="3050000"/>
            <a:ext cx="2600000" cy="9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700000" y="2550000"/>
            <a:ext cx="10800000" cy="12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4000" b="1">
                <a:solidFill>
                  <a:srgbClr val="FFFFFF"/>
                </a:solidFill>
              </a:rPr>
              <a:t>Module 2 - DevOps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700000" y="3300000"/>
            <a:ext cx="108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000">
                <a:solidFill>
                  <a:srgbClr val="F5B301"/>
                </a:solidFill>
              </a:rPr>
              <a:t>CI/CD, Docker, Kubernetes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DevOps, c'est quoi ?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Briser le mur entre Dev (changement) et Ops (stabilite)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Une culture + des pratiques, pas un metier ni un outil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CAMS : Culture, Automation, Measurement, Sharing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But : raccourcir le delai idee -&gt; production, de facon fiable et repetable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Mesurer : les metriques DORA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Deployment Frequency : a quelle frequence on deploie en production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Lead Time for Changes : du commit au deploiement en prod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Change Failure Rate : % de deploiements provoquant un incident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MTTR (Mean Time To Restore) : delai de remise en service apres incident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Vitesse et stabilite ne s'opposent pas - les equipes elite excellent sur les 4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CI / CD / CD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CI - Integration Continue : tester a chaque commit, feedback en minutes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CD - Livraison Continue : artefact toujours deployable (deploiement manuel)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CD - Deploiement Continu : deploiement automatique en prod a chaque merge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Cycle DevOps : Plan-&gt;Code-&gt;Build-&gt;Test-&gt;Release-&gt;Deploy-&gt;Operate-&gt;Monitor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Git Flow &amp; strategies de branches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Git Flow : branches main / develop / feature / release / hotfix - releases planifiees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GitHub Flow : main + branches courtes + PR + deploiement continu - SaaS web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Trunk-Based : commits frequents sur main + feature flags - equipes matures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Conventional Commits : feat / fix / docs / refactor / test / chore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Regle d'or : branches courtes, integrations frequentes, CI toujours verte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Pipeline CI - outils &amp; anatomie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Etapes typiques : checkout -&gt; install -&gt; lint -&gt; build -&gt; tests -&gt; artefact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GitHub Actions : YAML dans .github/workflows/ - integre a GitHub, gratuit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GitLab CI : .gitlab-ci.yml, runners integres, tout-en-un (DevSecOps)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Jenkins : serveur CI open source, tres configurable, Groovy pipelines, plugins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On ne fusionne jamais une branche avec un pipeline rouge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Docker - conteneurisation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Empaqueter l'app + son environnement -&gt; marche partout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Conteneur : partage le noyau de l'hote -&gt; leger, demarre en millisecondes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VM : embarque un OS complet -&gt; lourd, demarre en minutes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Image (modele) vs Conteneur (instance) ; volumes, reseaux, registres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Docker - Dockerfile &amp; Compose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Dockerfile multi-stage : build separe du runtime -&gt; image finale legere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Ordonner du moins au plus changeant (exploiter le cache des couches)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Ne pas tourner en root ; jamais de secret dans une couche d'image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Docker Compose : plusieurs services (app + base de donnees) en une commande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Registres d'images : Docker Hub, GitHub Container Registry (GHCR)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Kubernetes - orchestration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Redemarrage auto, mise a l'echelle, deploiement sans coupure (rolling update)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Pod (unite), Deployment (replicas + rollback), Service (adresse reseau stable)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Ingress (acces HTTP externe), ConfigMap / Secret, Namespace (isolation)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Approche declarative : on decrit l'etat souhaite, K8s converge en continu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Kubernetes - RBAC &amp; securite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RBAC : Role -&gt; RoleBinding -&gt; qui peut faire quoi sur quelles ressources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Bonnes pratiques : moindre privilege, conteneurs non-root, resources.limits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readinessProbe : Pod pret a recevoir du trafic ? Sinon retire du load balancer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livenessProbe : Pod vivant ? Sinon redemarrage automatique par K8s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Namespace + Secrets + NetworkPolicies : isoler les environnements (dev/prod)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Aller plus loin : Helm, observabilite, GitOps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Helm : packager et parametrer les manifestes K8s (templates + values.yaml)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Observabilite - 3 piliers : logs, metriques (Prometheus), traces distribuees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4 signaux dores (Google SRE) : latence, trafic, erreurs, saturation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Grafana : dashboards sur les metriques Prometheus (requetes PromQL)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GitOps (Argo CD) : Git = source de verite, synchro automatique avec le cluster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Module 2 - Ateliers pratiques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Atelier 1 (Jour 1) : Pipeline CI sur GitHub Actions ou GitLab CI - bloquer la fusion si rouge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Atelier 2 (Jour 2) : Conteneuriser QuickBite API + PostgreSQL via Docker Compose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Atelier 3 (Jour 3) : Deployer sur Minikube/K3s - Ingress, ConfigMap, scale, rollback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Atelier 4 (Jour 4) : Chaine complete CI/CD -&gt; Docker -&gt; Kubernetes -&gt; Helm -&gt; Grafana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Bonus : brancher Argo CD - un commit Git declenche le deploiement automatique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3D62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arre"/>
          <p:cNvSpPr/>
          <p:nvPr/>
        </p:nvSpPr>
        <p:spPr>
          <a:xfrm>
            <a:off x="700000" y="3050000"/>
            <a:ext cx="2600000" cy="9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700000" y="2550000"/>
            <a:ext cx="10800000" cy="12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4000" b="1">
                <a:solidFill>
                  <a:srgbClr val="FFFFFF"/>
                </a:solidFill>
              </a:rPr>
              <a:t>Module 3 - Spring Security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700000" y="3300000"/>
            <a:ext cx="108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000">
                <a:solidFill>
                  <a:srgbClr val="F5B301"/>
                </a:solidFill>
              </a:rPr>
              <a:t>Authentification, JWT, OAuth2, Keycloak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Authentification vs Autorisation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AuthN : Qui es-tu ? (identite) - vient en premier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AuthZ : As-tu le droit ? (permissions) - vient apres l'authentification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Authentifie ≠ autorise : les deux controles sont distincts et obligatoires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401 = non authentifie | 403 = authentifie mais sans droit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Stateful vs Stateless &amp; mots de passe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Stateful : session cote serveur (JSESSIONID) - scalabilite difficile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Stateless : token (JWT) - ideal API REST / microservices, scale horizontal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Mots de passe : jamais en clair -&gt; hachage lent + sale (sel integre)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BCrypt (work factor 12+) / Argon2 - MD5 et SHA seuls sont interdits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Attaques courantes &amp; parades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Brute force -&gt; hachage lent, rate limiting, lockout, MFA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MITM -&gt; HTTPS/TLS partout, HSTS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XSS -&gt; echapper les sorties, CSP, cookies HttpOnly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CSRF -&gt; token anti-CSRF, SameSite, ou API stateless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Injection SQL -&gt; requetes parametrees / ORM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Credential stuffing -&gt; MFA, detection d'anomalies, alertes sur fuites connues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Architecture Spring Security 6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Chaine de filtres (SecurityFilterChain) devant l'application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AuthenticationManager -&gt; AuthenticationProvider -&gt; UserDetailsService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SecurityContext : porte l'utilisateur authentifie pour toute la requete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WebSecurityConfigurerAdapter supprime -&gt; bean SecurityFilterChain + lambdas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Authentification avancee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Form login &amp; Basic Auth : pour applications web classiques (HTTPS obligatoire)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Custom UserDetailsService : charger les utilisateurs depuis la base de donnees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PasswordEncoder : BCrypt recommande ; DelegatingPasswordEncoder pour migrer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Authentification multi-layer : combiner Basic/Token + MFA pour les zones sensibles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Toujours renvoyer un message generique a l'echec - ne pas reveler login vs mdp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Autorisation RBAC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Role (grossier : ADMIN) vs Permission (fin : order:read)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Modele mature : Utilisateur -&gt; Roles -&gt; Permissions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@EnableMethodSecurity + @PreAuthorize("hasRole('ADMIN')")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@PostAuthorize : filtrer selon l'objet retourne | @Secured : annotation legacy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Piege : hasRole('ADMIN') attend l'autorite ROLE_ADMIN en base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JWT - JSON Web Token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Auto-porteur et SIGNE -&gt; verifiable sans appeler la base (stateless)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3 parties : header (algo) . payload (claims) . signature (integrite)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Signe ≠ chiffre : le payload est LISIBLE -&gt; aucune donnee sensible dedans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Access token court (15 min) + refresh token long (7 j, rotation obligatoire)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JWTAuthenticationFilter + JWTAuthorizationFilter dans la SecurityFilterChain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OAuth2 - les flows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Authorization Code + PKCE : RECOMMANDE - web, mobile, SPA (securise)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Client Credentials : machine a machine, pas d'utilisateur implique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Device Code : appareils sans clavier (TV, IoT)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Implicit Flow : DECONSEILLE - remplace par Authorization Code + PKCE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Password (ROPC) : DECONSEILLE - expose les identifiants a l'application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OAuth2 &amp; OpenID Connect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OAuth2 : autorisation deleguee (acces a des ressources en mon nom)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OIDC : couche d'authentification au-dessus d'OAuth2 + ID token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ID token (pour le client, qui est l'utilisateur) ≠ Access token (pour l'API)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PKCE : code_verifier secret + code_challenge - protege les clients publics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Spring : oauth2Login() pour le client | oauth2ResourceServer() pour l'API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Keycloak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Serveur d'identite open source (IAM) : authentification, SSO, federation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Realm (espace isole), Client (application), Roles (realm ou client), Mappers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API Spring = resource server qui valide les tokens via issuer-uri (JWKS)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Mapper realm_access.roles -&gt; ROLE_* : cause n°1 des 403 avec Keycloak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Alternative : Spring Authorization Server - serveur OAuth2/OIDC natif Spring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Securite avancee - WebSocket &amp; microservices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WebSocket : desactiver CSRF pour le endpoint WS | SockJS necessite config CORS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Intercepteurs de messages : @MessageMapping protege par @PreAuthorize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Microservices : API Gateway centralise AuthN, rate limiting, terminaison TLS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Rotation des cles JWT (JWKS + kid) - limiter l'impact d'une compromission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Zero-trust : chaque service re-valide le token, meme en interne au cluster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Durcissement &amp; OWASP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CORS (permission cross-domaine) ≠ CSRF (attaque contre les sessions)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Rate limiting (Bucket4j / API Gateway), exceptions neutres, audit des acces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Headers de securite : CSP, X-Frame-Options, X-Content-Type-Options, HSTS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OWASP Top 1 : Broken Access Control -&gt; verifier CHAQUE endpoint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Actuator : proteger les endpoints de monitoring, ne jamais tout exposer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Module 3 - Ateliers pratiques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Atelier 1 (Jour 1) : Premier projet Spring Boot 3 securise - SecurityFilterChain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Atelier 2 (Jour 2) : UserDetailsService JPA + modele Role/Permission + Postman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Atelier 3 (Jour 3) : API REST securisee JWT - login, refresh, rotation, 401/403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Atelier 4 (Jour 4) : Keycloak Docker + resource server + front OAuth2/OIDC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Atelier 5 (Jour 5) : Grand TP final - API JWT + RBAC + Keycloak + durcissement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3D62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arre"/>
          <p:cNvSpPr/>
          <p:nvPr/>
        </p:nvSpPr>
        <p:spPr>
          <a:xfrm>
            <a:off x="700000" y="3050000"/>
            <a:ext cx="2600000" cy="9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700000" y="2550000"/>
            <a:ext cx="10800000" cy="12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4000" b="1">
                <a:solidFill>
                  <a:srgbClr val="FFFFFF"/>
                </a:solidFill>
              </a:rPr>
              <a:t>Projet fil rouge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700000" y="3300000"/>
            <a:ext cx="108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000">
                <a:solidFill>
                  <a:srgbClr val="F5B301"/>
                </a:solidFill>
              </a:rPr>
              <a:t>QuickBite - une API qu'on construit, deploie et securise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QuickBite - atelier progressif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A0-A1 : squelette Spring Boot + SecurityFilterChain + securite de base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A2 : utilisateurs en base + RBAC (BCrypt, @PreAuthorize, roles/permissions)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A3 : authentification JWT (login / refresh / rotation des tokens)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A4 : OAuth2 / Keycloak (SSO, resource server, front protege en OIDC)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A5 : durcissement (CORS, rate limit, exceptions, audit, OWASP checklist)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DevOps : Docker -&gt; CI GitHub Actions/GitLab/Jenkins -&gt; Kubernetes -&gt; Helm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00000" y="480000"/>
            <a:ext cx="70000" cy="70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430000"/>
            <a:ext cx="107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800" b="1">
                <a:solidFill>
                  <a:srgbClr val="0B3D62"/>
                </a:solidFill>
              </a:rPr>
              <a:t>Synthese du cursus</a:t>
            </a:r>
          </a:p>
        </p:txBody>
      </p:sp>
      <p:sp>
        <p:nvSpPr>
          <p:cNvPr id="4" name="filet"/>
          <p:cNvSpPr/>
          <p:nvPr/>
        </p:nvSpPr>
        <p:spPr>
          <a:xfrm>
            <a:off x="600000" y="1320000"/>
            <a:ext cx="11000000" cy="18000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760000" y="1560000"/>
            <a:ext cx="1070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Agile : construire LE BON produit, dans le bon ordre, avec les bonnes personnes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DevOps : le livrer VITE et SUREMENT, de facon automatisee et tracable</a:t>
            </a:r>
          </a:p>
          <a:p>
            <a:pPr marL="285750" indent="-285750" lvl="0" algn="l">
              <a:buFont typeface="Arial"/>
              <a:buChar char="•"/>
            </a:pPr>
            <a:r>
              <a:rPr lang="fr-FR" sz="1900">
                <a:solidFill>
                  <a:srgbClr val="1F2329"/>
                </a:solidFill>
              </a:rPr>
              <a:t>Securite : PROTEGER ce qui est livre, a chaque couche de la stack</a:t>
            </a:r>
          </a:p>
          <a:p>
            <a:pPr marL="285750" indent="-285750" lvl="1" algn="l">
              <a:buFont typeface="Arial"/>
              <a:buChar char="•"/>
            </a:pPr>
            <a:r>
              <a:rPr lang="fr-FR" sz="1600">
                <a:solidFill>
                  <a:srgbClr val="5B6770"/>
                </a:solidFill>
              </a:rPr>
              <a:t>Trois facettes d'un meme metier : livrer de la valeur, en confiance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3D62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arre"/>
          <p:cNvSpPr/>
          <p:nvPr/>
        </p:nvSpPr>
        <p:spPr>
          <a:xfrm>
            <a:off x="700000" y="3050000"/>
            <a:ext cx="2600000" cy="9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700000" y="2550000"/>
            <a:ext cx="10800000" cy="12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4000" b="1">
                <a:solidFill>
                  <a:srgbClr val="FFFFFF"/>
                </a:solidFill>
              </a:rPr>
              <a:t>Merci !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700000" y="3300000"/>
            <a:ext cx="108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algn="l">
              <a:buNone/>
            </a:pPr>
            <a:r>
              <a:rPr lang="fr-FR" sz="2000">
                <a:solidFill>
                  <a:srgbClr val="F5B301"/>
                </a:solidFill>
              </a:rPr>
              <a:t>Questions / Reponses - Haithem Mihoubi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Solid Wall">
  <a:themeElements>
    <a:clrScheme name="Solid Wall">
      <a:dk1>
        <a:sysClr val="windowText" lastClr="000000"/>
      </a:dk1>
      <a:lt1>
        <a:sysClr val="window" lastClr="FFFFFF"/>
      </a:lt1>
      <a:dk2>
        <a:srgbClr val="0B3D62"/>
      </a:dk2>
      <a:lt2>
        <a:srgbClr val="F4F7FA"/>
      </a:lt2>
      <a:accent1>
        <a:srgbClr val="0B3D62"/>
      </a:accent1>
      <a:accent2>
        <a:srgbClr val="F5B301"/>
      </a:accent2>
      <a:accent3>
        <a:srgbClr val="14507A"/>
      </a:accent3>
      <a:accent4>
        <a:srgbClr val="1E9E5A"/>
      </a:accent4>
      <a:accent5>
        <a:srgbClr val="C0392B"/>
      </a:accent5>
      <a:accent6>
        <a:srgbClr val="6C3FB5"/>
      </a:accent6>
      <a:hlink>
        <a:srgbClr val="14507A"/>
      </a:hlink>
      <a:folHlink>
        <a:srgbClr val="6C3FB5"/>
      </a:folHlink>
    </a:clrScheme>
    <a:fontScheme name="Solid Wall">
      <a:majorFont>
        <a:latin typeface="DejaVu Sans"/>
        <a:ea typeface=""/>
        <a:cs typeface=""/>
      </a:majorFont>
      <a:minorFont>
        <a:latin typeface="DejaVu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63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Solid Wall PPTX Generator</Application>
  <Company>Solid Wall Consulting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Agilite, DevOps &amp; Securite</dc:title>
  <dc:creator>Haithem Mihoubi</dc:creator>
  <cp:lastModifiedBy>Haithem Mihoubi</cp:lastModifiedBy>
</cp:coreProperties>
</file>